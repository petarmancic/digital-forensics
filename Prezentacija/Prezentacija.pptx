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95" d="100"/>
          <a:sy n="95" d="100"/>
        </p:scale>
        <p:origin x="2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10-01-26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47F38-B617-4D2F-AE0A-013F0C4D2C57}" type="datetimeFigureOut">
              <a:rPr lang="en-US" dirty="0"/>
              <a:t>10-01-26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99C9-84D9-46D2-A11E-BCF8A720529D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10-01-26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10-01-26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10-01-26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10-01-26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10-01-26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10-01-26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10-01-26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10-01-26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10-01-26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10-01-26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10-01-26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10-01-26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10-01-26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10-01-26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10-01-26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10-01-26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8" r:id="rId2"/>
    <p:sldLayoutId id="2147483651" r:id="rId3"/>
    <p:sldLayoutId id="2147483669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95575-584E-F966-F1A7-E2B561492A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Razvoj</a:t>
            </a:r>
            <a:r>
              <a:rPr lang="en-US" sz="28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alata za </a:t>
            </a:r>
            <a:r>
              <a:rPr lang="en-US" sz="2800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analizu</a:t>
            </a:r>
            <a:r>
              <a:rPr lang="en-US" sz="28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en-US" sz="2800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</a:t>
            </a:r>
            <a:r>
              <a:rPr lang="en-US" sz="28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en-US" sz="2800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vizualizaciju</a:t>
            </a:r>
            <a:r>
              <a:rPr lang="en-US" sz="28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en-US" sz="2800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metapodataka</a:t>
            </a:r>
            <a:r>
              <a:rPr lang="en-US" sz="28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en-US" sz="2800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fajlova</a:t>
            </a:r>
            <a:r>
              <a:rPr lang="en-US" sz="28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br>
              <a:rPr lang="en-US" sz="7200" dirty="0"/>
            </a:br>
            <a:r>
              <a:rPr lang="en-US" sz="2800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korišćenjem</a:t>
            </a:r>
            <a:r>
              <a:rPr lang="en-US" sz="28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Python</a:t>
            </a:r>
            <a:endParaRPr lang="en-US" sz="7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12EB1D-B08E-4694-1926-341223EB5D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2398" y="3657596"/>
            <a:ext cx="6900176" cy="1515533"/>
          </a:xfrm>
        </p:spPr>
        <p:txBody>
          <a:bodyPr>
            <a:normAutofit fontScale="85000" lnSpcReduction="20000"/>
          </a:bodyPr>
          <a:lstStyle/>
          <a:p>
            <a:endParaRPr lang="sr-Latn-RS" dirty="0"/>
          </a:p>
          <a:p>
            <a:r>
              <a:rPr lang="sr-Latn-RS" sz="2800" dirty="0"/>
              <a:t>Digitalna forenzika</a:t>
            </a:r>
          </a:p>
          <a:p>
            <a:endParaRPr lang="sr-Latn-RS" dirty="0"/>
          </a:p>
          <a:p>
            <a:r>
              <a:rPr lang="sr-Latn-RS" dirty="0"/>
              <a:t>										</a:t>
            </a:r>
            <a:r>
              <a:rPr lang="sr-Latn-RS" sz="2400" dirty="0"/>
              <a:t>Petar Mančic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5618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94285-AE20-49A5-A81A-5723A952B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1196" cy="1303867"/>
          </a:xfrm>
        </p:spPr>
        <p:txBody>
          <a:bodyPr/>
          <a:lstStyle/>
          <a:p>
            <a:r>
              <a:rPr lang="sr-Latn-RS" dirty="0"/>
              <a:t>Sadržaj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D05AD-02F7-645F-7540-18FCC1ED6C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sr-Latn-RS" dirty="0"/>
              <a:t>Uvod i cilj projekta</a:t>
            </a:r>
          </a:p>
          <a:p>
            <a:r>
              <a:rPr lang="sr-Latn-RS" dirty="0"/>
              <a:t>Metapodaci fajlova</a:t>
            </a:r>
          </a:p>
          <a:p>
            <a:r>
              <a:rPr lang="sr-Latn-RS" dirty="0"/>
              <a:t>Korišćene tehnologije</a:t>
            </a:r>
          </a:p>
          <a:p>
            <a:r>
              <a:rPr lang="sr-Latn-RS" dirty="0"/>
              <a:t>Arhitektura i implementacija alata</a:t>
            </a:r>
          </a:p>
          <a:p>
            <a:r>
              <a:rPr lang="sr-Latn-RS" dirty="0"/>
              <a:t>Analiza i vizuelizacija podataka</a:t>
            </a:r>
          </a:p>
          <a:p>
            <a:r>
              <a:rPr lang="sr-Latn-RS" dirty="0"/>
              <a:t>Detekcija anomalija</a:t>
            </a:r>
          </a:p>
          <a:p>
            <a:r>
              <a:rPr lang="sr-Latn-RS" dirty="0"/>
              <a:t>Rezultati i primeri</a:t>
            </a:r>
          </a:p>
          <a:p>
            <a:r>
              <a:rPr lang="sr-Latn-RS" dirty="0"/>
              <a:t>Zaključak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39811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BC8FA-18EA-0DE6-EF37-622862A49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sr-Latn-RS" dirty="0"/>
              <a:t>Uvod i cilj projekta</a:t>
            </a:r>
            <a:br>
              <a:rPr lang="sr-Latn-R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025D5-A1A2-6BE9-85C1-583F752BE4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Projekat se </a:t>
            </a:r>
            <a:r>
              <a:rPr lang="en-US" dirty="0" err="1"/>
              <a:t>bavi</a:t>
            </a:r>
            <a:r>
              <a:rPr lang="en-US" dirty="0"/>
              <a:t> </a:t>
            </a:r>
            <a:r>
              <a:rPr lang="en-US" dirty="0" err="1"/>
              <a:t>analizom</a:t>
            </a:r>
            <a:r>
              <a:rPr lang="en-US" dirty="0"/>
              <a:t> </a:t>
            </a:r>
            <a:r>
              <a:rPr lang="en-US" dirty="0" err="1"/>
              <a:t>metapodataka</a:t>
            </a:r>
            <a:r>
              <a:rPr lang="en-US" dirty="0"/>
              <a:t> </a:t>
            </a:r>
            <a:r>
              <a:rPr lang="en-US" dirty="0" err="1"/>
              <a:t>fajlova</a:t>
            </a:r>
            <a:endParaRPr lang="en-US" dirty="0"/>
          </a:p>
          <a:p>
            <a:r>
              <a:rPr lang="en-US" dirty="0" err="1"/>
              <a:t>Fokus</a:t>
            </a:r>
            <a:r>
              <a:rPr lang="en-US" dirty="0"/>
              <a:t> je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pra</a:t>
            </a:r>
            <a:r>
              <a:rPr lang="sr-Latn-RS" dirty="0"/>
              <a:t>ćenju pristupa i strukture fajl sistema</a:t>
            </a:r>
          </a:p>
          <a:p>
            <a:r>
              <a:rPr lang="sr-Latn-RS" dirty="0"/>
              <a:t>Korišćen je Python za obradu i vizuelizaciju  podataka</a:t>
            </a:r>
          </a:p>
          <a:p>
            <a:r>
              <a:rPr lang="sr-Latn-RS" b="1" dirty="0"/>
              <a:t>Cilj projekta </a:t>
            </a:r>
          </a:p>
          <a:p>
            <a:r>
              <a:rPr lang="sr-Latn-RS" dirty="0"/>
              <a:t>Automatizovana analiza  metapodata fajlova</a:t>
            </a:r>
          </a:p>
          <a:p>
            <a:r>
              <a:rPr lang="sr-Latn-RS" dirty="0"/>
              <a:t>Vizuelni prikaz akvinosti i obrazaca pristupa</a:t>
            </a:r>
          </a:p>
          <a:p>
            <a:r>
              <a:rPr lang="sr-Latn-RS" dirty="0"/>
              <a:t>Uočavanje anomalija i neubičajenog ponašanja u fajl sistemu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7138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D7933-1A43-2787-E8A5-CC7182D9B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Metapodaci fajlova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C5E31-F4BD-269C-1B03-F39B05E1B6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r-Latn-RS" dirty="0"/>
              <a:t>Metapodaci su podaci o podacima</a:t>
            </a:r>
          </a:p>
          <a:p>
            <a:r>
              <a:rPr lang="sr-Latn-RS" dirty="0"/>
              <a:t>Opisuju fajl: naziv, veličinu, tip, vreme kreiranja, vreme izmene, poslednjeg pristupa</a:t>
            </a:r>
          </a:p>
          <a:p>
            <a:r>
              <a:rPr lang="sr-Latn-RS" dirty="0"/>
              <a:t>Ne sadrže sadržaj fajla, vec informacije o njemu</a:t>
            </a:r>
          </a:p>
          <a:p>
            <a:r>
              <a:rPr lang="sr-Latn-RS" dirty="0"/>
              <a:t>Koriste se za analizu, organizaciju i bezbednosni nadzor fajlova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353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69C84-00BE-A06E-E781-4F548B601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Primer metapodataka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D6C9C29-1420-0A76-2E0A-928794A4F7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27221" y="2820297"/>
            <a:ext cx="9601200" cy="76511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8209A4-F673-F067-D2A8-13D99708FD2F}"/>
              </a:ext>
            </a:extLst>
          </p:cNvPr>
          <p:cNvSpPr txBox="1"/>
          <p:nvPr/>
        </p:nvSpPr>
        <p:spPr>
          <a:xfrm>
            <a:off x="1295402" y="3741005"/>
            <a:ext cx="99701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2400" dirty="0"/>
              <a:t>Primer metapodataka o jednom folderu.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1531449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82FB3-E197-A04C-8406-62F14CB2A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Korišćene tehnologije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128A6CB-2E0E-54D4-36BE-CFB8900E1D6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95402" y="2821971"/>
            <a:ext cx="9572557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Python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– glavni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programski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jezik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zbog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jednostavne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obrade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podataka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Pandas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– za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analizu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manipulaciju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metapodataka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Matplotlib / Seaborn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– za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grafičku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vizuelizaciju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podataka</a:t>
            </a:r>
            <a:endParaRPr kumimoji="0" lang="sr-Latn-R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b="1" dirty="0"/>
              <a:t>Scatter plot</a:t>
            </a:r>
            <a:r>
              <a:rPr lang="sr-Latn-RS" dirty="0"/>
              <a:t>- prikaz raspodele i dinamike pristupa fajlovima (calendar activity)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1980675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E834D-F345-5138-B918-5C1E9E73E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sr-Latn-RS" dirty="0"/>
              <a:t>Arhitektura i implementacija alata</a:t>
            </a:r>
            <a:br>
              <a:rPr lang="sr-Latn-R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E3450-DEA5-2B64-C7DA-56C3FE156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r-Latn-RS" dirty="0"/>
              <a:t>Prikupljanje metapodataka iz fajl sistema</a:t>
            </a:r>
          </a:p>
          <a:p>
            <a:r>
              <a:rPr lang="sr-Latn-RS" dirty="0"/>
              <a:t>Obrada i analiza podataka u Python-u</a:t>
            </a:r>
          </a:p>
          <a:p>
            <a:r>
              <a:rPr lang="sr-Latn-RS" dirty="0"/>
              <a:t>Detekcija anomalija</a:t>
            </a:r>
          </a:p>
          <a:p>
            <a:r>
              <a:rPr lang="sr-Latn-RS" dirty="0"/>
              <a:t>Vizuelizacija rezultata (grafici, bar chart i pie chart, caltplot)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07462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 descr="A diagram of a diagram">
            <a:extLst>
              <a:ext uri="{FF2B5EF4-FFF2-40B4-BE49-F238E27FC236}">
                <a16:creationId xmlns:a16="http://schemas.microsoft.com/office/drawing/2014/main" id="{9EB90F34-03C9-CE8A-0EF0-98DE2E488B12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rcRect r="-4502" b="63826"/>
          <a:stretch/>
        </p:blipFill>
        <p:spPr>
          <a:xfrm>
            <a:off x="882650" y="919833"/>
            <a:ext cx="5213350" cy="2990850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87741B7-0CA5-F772-1D81-62B6CCC259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17" t="36452" r="1750" b="19744"/>
          <a:stretch/>
        </p:blipFill>
        <p:spPr>
          <a:xfrm>
            <a:off x="6400800" y="774953"/>
            <a:ext cx="3593432" cy="328061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C9A9D9E-E657-43BE-987C-FC9AF46B93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1220" r="1534"/>
          <a:stretch/>
        </p:blipFill>
        <p:spPr>
          <a:xfrm>
            <a:off x="6488329" y="4070045"/>
            <a:ext cx="3650282" cy="14064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DEB79C-234A-9EF4-448C-61FF751D398A}"/>
              </a:ext>
            </a:extLst>
          </p:cNvPr>
          <p:cNvSpPr txBox="1"/>
          <p:nvPr/>
        </p:nvSpPr>
        <p:spPr>
          <a:xfrm>
            <a:off x="1010653" y="5476502"/>
            <a:ext cx="26165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2400" dirty="0"/>
              <a:t>Flowchart programa</a:t>
            </a:r>
            <a:endParaRPr lang="en-US" sz="24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A95A3CF-11DF-E898-4938-A32F7679A8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895" t="18765" r="17919" b="18947"/>
          <a:stretch/>
        </p:blipFill>
        <p:spPr>
          <a:xfrm>
            <a:off x="2919661" y="3895947"/>
            <a:ext cx="296781" cy="266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0918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6FC75-DE7A-29E6-3852-DBEAF5CF6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Detekcija anomalija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B806CF9-0A2B-0EE3-3A05-D89B70957AD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07697" y="2459504"/>
            <a:ext cx="8181983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Anomalije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predstavljaju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neuobičajene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obrasce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pristupu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fajlovima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Detekcija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vrši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statističkim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metodama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npr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IQR)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Identifikacija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ekstremnih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vrednosti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odstupanja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Pomaže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otkrivanju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potencijalno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sumnjivih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aktivnosti</a:t>
            </a:r>
            <a:endParaRPr kumimoji="0" lang="sr-Latn-R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0688902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8099E-7A30-D9FA-59B6-D053D607B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3"/>
            <a:ext cx="9601196" cy="798542"/>
          </a:xfrm>
        </p:spPr>
        <p:txBody>
          <a:bodyPr/>
          <a:lstStyle/>
          <a:p>
            <a:r>
              <a:rPr lang="sr-Latn-RS" dirty="0"/>
              <a:t>IQR metoda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5313B-5980-5351-A4C6-585202EF41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462464"/>
            <a:ext cx="9601196" cy="3413404"/>
          </a:xfrm>
        </p:spPr>
        <p:txBody>
          <a:bodyPr>
            <a:normAutofit fontScale="92500" lnSpcReduction="20000"/>
          </a:bodyPr>
          <a:lstStyle/>
          <a:p>
            <a:r>
              <a:rPr lang="sr-Latn-RS" dirty="0"/>
              <a:t>Q1, Q3 i IQR</a:t>
            </a:r>
          </a:p>
          <a:p>
            <a:r>
              <a:rPr lang="sr-Latn-RS" b="1" dirty="0"/>
              <a:t>Q1(prvi kvartil)</a:t>
            </a:r>
            <a:r>
              <a:rPr lang="sr-Latn-RS" dirty="0"/>
              <a:t>- predstavlja vrednost ispod koje se nalazi 25% svih podataka</a:t>
            </a:r>
          </a:p>
          <a:p>
            <a:r>
              <a:rPr lang="sr-Latn-RS" b="1" dirty="0"/>
              <a:t>Q3(treći kvartil)</a:t>
            </a:r>
            <a:r>
              <a:rPr lang="sr-Latn-RS" dirty="0"/>
              <a:t>- predstavlja vrednost ispod koje se nalazi 75% svih podataka </a:t>
            </a:r>
          </a:p>
          <a:p>
            <a:r>
              <a:rPr lang="sr-Latn-RS" b="1" dirty="0"/>
              <a:t>IQR(interquartile Range)- </a:t>
            </a:r>
            <a:r>
              <a:rPr lang="sr-Latn-RS" dirty="0"/>
              <a:t>predstavlja raspon izmedju prvog i trećec kvartila i</a:t>
            </a:r>
          </a:p>
          <a:p>
            <a:pPr marL="0" indent="0">
              <a:buNone/>
            </a:pPr>
            <a:r>
              <a:rPr lang="sr-Latn-RS" dirty="0"/>
              <a:t>    računa se kao :</a:t>
            </a:r>
          </a:p>
          <a:p>
            <a:pPr marL="0" indent="0" algn="ctr">
              <a:buNone/>
            </a:pPr>
            <a:r>
              <a:rPr lang="sr-Latn-RS" b="1" dirty="0"/>
              <a:t>	IQR</a:t>
            </a:r>
            <a:r>
              <a:rPr lang="en-US" b="1" dirty="0"/>
              <a:t>=Q3-Q1</a:t>
            </a:r>
          </a:p>
          <a:p>
            <a:pPr marL="0" indent="0">
              <a:buNone/>
            </a:pPr>
            <a:r>
              <a:rPr lang="en-US" b="1" dirty="0"/>
              <a:t>IQR </a:t>
            </a:r>
            <a:r>
              <a:rPr lang="en-US" dirty="0"/>
              <a:t> </a:t>
            </a:r>
            <a:r>
              <a:rPr lang="en-US" dirty="0" err="1"/>
              <a:t>opisuje</a:t>
            </a:r>
            <a:r>
              <a:rPr lang="en-US" dirty="0"/>
              <a:t> “</a:t>
            </a:r>
            <a:r>
              <a:rPr lang="en-US" dirty="0" err="1"/>
              <a:t>normalan</a:t>
            </a:r>
            <a:r>
              <a:rPr lang="en-US" dirty="0"/>
              <a:t>” </a:t>
            </a:r>
            <a:r>
              <a:rPr lang="en-US" dirty="0" err="1"/>
              <a:t>raspon</a:t>
            </a:r>
            <a:r>
              <a:rPr lang="en-US" dirty="0"/>
              <a:t> </a:t>
            </a:r>
            <a:r>
              <a:rPr lang="en-US" dirty="0" err="1"/>
              <a:t>srednjih</a:t>
            </a:r>
            <a:r>
              <a:rPr lang="en-US" dirty="0"/>
              <a:t> 50% podataka I </a:t>
            </a:r>
            <a:r>
              <a:rPr lang="en-US" dirty="0" err="1"/>
              <a:t>koristi</a:t>
            </a:r>
            <a:r>
              <a:rPr lang="en-US" dirty="0"/>
              <a:t> se za </a:t>
            </a:r>
            <a:r>
              <a:rPr lang="en-US" dirty="0" err="1"/>
              <a:t>identifikaciju</a:t>
            </a:r>
            <a:r>
              <a:rPr lang="en-US" dirty="0"/>
              <a:t> </a:t>
            </a:r>
            <a:r>
              <a:rPr lang="en-US" dirty="0" err="1"/>
              <a:t>odstpuanja</a:t>
            </a:r>
            <a:endParaRPr lang="sr-Latn-R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014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518573C-EFF0-109F-71F7-6681690A5139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rcRect t="6549"/>
          <a:stretch/>
        </p:blipFill>
        <p:spPr>
          <a:xfrm>
            <a:off x="1175084" y="577516"/>
            <a:ext cx="9841831" cy="506930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32D913A-7091-2982-B8C5-5521286EB8E7}"/>
              </a:ext>
            </a:extLst>
          </p:cNvPr>
          <p:cNvSpPr txBox="1"/>
          <p:nvPr/>
        </p:nvSpPr>
        <p:spPr>
          <a:xfrm>
            <a:off x="3702767" y="5743074"/>
            <a:ext cx="43123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kern="0" dirty="0" err="1">
                <a:solidFill>
                  <a:srgbClr val="44546A"/>
                </a:solidFill>
                <a:effectLst/>
              </a:rPr>
              <a:t>Detekcija</a:t>
            </a:r>
            <a:r>
              <a:rPr lang="en-US" sz="1800" kern="0" dirty="0">
                <a:solidFill>
                  <a:srgbClr val="44546A"/>
                </a:solidFill>
                <a:effectLst/>
              </a:rPr>
              <a:t> </a:t>
            </a:r>
            <a:r>
              <a:rPr lang="en-US" sz="1800" kern="0" dirty="0" err="1">
                <a:solidFill>
                  <a:srgbClr val="44546A"/>
                </a:solidFill>
                <a:effectLst/>
              </a:rPr>
              <a:t>anomalija</a:t>
            </a:r>
            <a:r>
              <a:rPr lang="en-US" sz="1800" kern="0" dirty="0">
                <a:solidFill>
                  <a:srgbClr val="44546A"/>
                </a:solidFill>
                <a:effectLst/>
              </a:rPr>
              <a:t> u </a:t>
            </a:r>
            <a:r>
              <a:rPr lang="en-US" sz="1800" kern="0" dirty="0" err="1">
                <a:solidFill>
                  <a:srgbClr val="44546A"/>
                </a:solidFill>
                <a:effectLst/>
              </a:rPr>
              <a:t>broju</a:t>
            </a:r>
            <a:r>
              <a:rPr lang="en-US" sz="1800" kern="0" dirty="0">
                <a:solidFill>
                  <a:srgbClr val="44546A"/>
                </a:solidFill>
                <a:effectLst/>
              </a:rPr>
              <a:t> </a:t>
            </a:r>
            <a:r>
              <a:rPr lang="en-US" sz="1800" kern="0" dirty="0" err="1">
                <a:solidFill>
                  <a:srgbClr val="44546A"/>
                </a:solidFill>
                <a:effectLst/>
              </a:rPr>
              <a:t>pristupa</a:t>
            </a:r>
            <a:r>
              <a:rPr lang="en-US" sz="1800" kern="0" dirty="0">
                <a:solidFill>
                  <a:srgbClr val="44546A"/>
                </a:solidFill>
                <a:effectLst/>
              </a:rPr>
              <a:t> </a:t>
            </a:r>
            <a:r>
              <a:rPr lang="en-US" sz="1800" kern="0" dirty="0" err="1">
                <a:solidFill>
                  <a:srgbClr val="44546A"/>
                </a:solidFill>
                <a:effectLst/>
              </a:rPr>
              <a:t>fajlovima</a:t>
            </a:r>
            <a:endParaRPr lang="en-US" sz="1800" dirty="0">
              <a:solidFill>
                <a:srgbClr val="44546A"/>
              </a:solidFill>
              <a:effectLst/>
            </a:endParaRP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40190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AAF78-78EC-802E-B280-0F55E2351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Rezultati</a:t>
            </a:r>
            <a:r>
              <a:rPr lang="en-US" dirty="0"/>
              <a:t> I </a:t>
            </a:r>
            <a:r>
              <a:rPr lang="en-US" dirty="0" err="1"/>
              <a:t>primeri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4F2BDA-D08A-F282-8ED1-AE1B62520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Generisanje</a:t>
            </a:r>
            <a:r>
              <a:rPr lang="en-US" dirty="0"/>
              <a:t> 4 </a:t>
            </a:r>
            <a:r>
              <a:rPr lang="en-US" dirty="0" err="1"/>
              <a:t>razli</a:t>
            </a:r>
            <a:r>
              <a:rPr lang="sr-Latn-RS" dirty="0"/>
              <a:t>čitih grafika</a:t>
            </a:r>
          </a:p>
          <a:p>
            <a:pPr marL="457200" indent="-457200">
              <a:buFont typeface="+mj-lt"/>
              <a:buAutoNum type="arabicPeriod"/>
            </a:pPr>
            <a:r>
              <a:rPr lang="sr-Latn-RS" dirty="0"/>
              <a:t>Analiza fajlova po tipovima</a:t>
            </a:r>
          </a:p>
          <a:p>
            <a:pPr marL="457200" indent="-457200">
              <a:buFont typeface="+mj-lt"/>
              <a:buAutoNum type="arabicPeriod"/>
            </a:pPr>
            <a:r>
              <a:rPr lang="sr-Latn-RS" dirty="0"/>
              <a:t>Analiza fajlova po veličini</a:t>
            </a:r>
          </a:p>
          <a:p>
            <a:pPr marL="457200" indent="-457200">
              <a:buFont typeface="+mj-lt"/>
              <a:buAutoNum type="arabicPeriod"/>
            </a:pPr>
            <a:r>
              <a:rPr lang="sr-Latn-RS" dirty="0"/>
              <a:t>Kalendarska reprezentacija aktivnosti pristupa fajlovima</a:t>
            </a:r>
          </a:p>
          <a:p>
            <a:pPr marL="457200" indent="-457200">
              <a:buFont typeface="+mj-lt"/>
              <a:buAutoNum type="arabicPeriod"/>
            </a:pPr>
            <a:r>
              <a:rPr lang="sr-Latn-RS" dirty="0"/>
              <a:t>Identifikacija anomalija</a:t>
            </a:r>
          </a:p>
          <a:p>
            <a:pPr marL="0" indent="0">
              <a:buNone/>
            </a:pPr>
            <a:endParaRPr lang="sr-Latn-RS" dirty="0"/>
          </a:p>
        </p:txBody>
      </p:sp>
    </p:spTree>
    <p:extLst>
      <p:ext uri="{BB962C8B-B14F-4D97-AF65-F5344CB8AC3E}">
        <p14:creationId xmlns:p14="http://schemas.microsoft.com/office/powerpoint/2010/main" val="10253244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2A7AEA0-B54D-A390-AA36-6D05F3012952}"/>
              </a:ext>
            </a:extLst>
          </p:cNvPr>
          <p:cNvSpPr txBox="1"/>
          <p:nvPr/>
        </p:nvSpPr>
        <p:spPr>
          <a:xfrm>
            <a:off x="-344908" y="713874"/>
            <a:ext cx="117107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r-Latn-RS" sz="4400" b="1" dirty="0">
                <a:latin typeface="+mj-lt"/>
              </a:rPr>
              <a:t>Analiza fajlova po tipovima</a:t>
            </a:r>
            <a:endParaRPr lang="en-US" sz="4400" b="1" dirty="0"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910545-4ADA-FD66-FF47-868734A0BC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730" r="1583"/>
          <a:stretch/>
        </p:blipFill>
        <p:spPr>
          <a:xfrm>
            <a:off x="1323475" y="1483315"/>
            <a:ext cx="9216188" cy="427240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E10658-7084-1677-256E-D55E0FA56B3E}"/>
              </a:ext>
            </a:extLst>
          </p:cNvPr>
          <p:cNvSpPr txBox="1"/>
          <p:nvPr/>
        </p:nvSpPr>
        <p:spPr>
          <a:xfrm>
            <a:off x="4552024" y="5755719"/>
            <a:ext cx="26725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1800" kern="0" dirty="0">
                <a:solidFill>
                  <a:srgbClr val="44546A"/>
                </a:solidFill>
                <a:effectLst/>
              </a:rPr>
              <a:t>Distribuacija fajlova po tipu</a:t>
            </a:r>
            <a:endParaRPr lang="it-IT" sz="1800" dirty="0">
              <a:solidFill>
                <a:srgbClr val="44546A"/>
              </a:solidFill>
              <a:effectLst/>
            </a:endParaRP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99479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6C29FF-A704-9E98-D6CF-FC49C8991BCD}"/>
              </a:ext>
            </a:extLst>
          </p:cNvPr>
          <p:cNvSpPr txBox="1"/>
          <p:nvPr/>
        </p:nvSpPr>
        <p:spPr>
          <a:xfrm>
            <a:off x="0" y="705852"/>
            <a:ext cx="1155833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r-Latn-RS" sz="4400" b="1" dirty="0"/>
              <a:t>Analiza fajlova po veličini</a:t>
            </a:r>
            <a:endParaRPr lang="en-US" sz="44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B414B5-C285-31A3-C568-777FE9D3A69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684" b="-1612"/>
          <a:stretch/>
        </p:blipFill>
        <p:spPr>
          <a:xfrm>
            <a:off x="1660357" y="1431372"/>
            <a:ext cx="8129337" cy="44400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C6B2AE-6BB9-9702-CC93-0345787B4C1B}"/>
              </a:ext>
            </a:extLst>
          </p:cNvPr>
          <p:cNvSpPr txBox="1"/>
          <p:nvPr/>
        </p:nvSpPr>
        <p:spPr>
          <a:xfrm>
            <a:off x="3173134" y="5782816"/>
            <a:ext cx="46987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Aft>
                <a:spcPts val="1000"/>
              </a:spcAft>
            </a:pPr>
            <a:r>
              <a:rPr lang="en-US" sz="1800" kern="0" dirty="0" err="1">
                <a:solidFill>
                  <a:srgbClr val="44546A"/>
                </a:solidFill>
                <a:effectLst/>
              </a:rPr>
              <a:t>Grafikoni</a:t>
            </a:r>
            <a:r>
              <a:rPr lang="en-US" sz="1800" kern="0" dirty="0">
                <a:solidFill>
                  <a:srgbClr val="44546A"/>
                </a:solidFill>
                <a:effectLst/>
              </a:rPr>
              <a:t> koji </a:t>
            </a:r>
            <a:r>
              <a:rPr lang="en-US" sz="1800" kern="0" dirty="0" err="1">
                <a:solidFill>
                  <a:srgbClr val="44546A"/>
                </a:solidFill>
                <a:effectLst/>
              </a:rPr>
              <a:t>predstavljaju</a:t>
            </a:r>
            <a:r>
              <a:rPr lang="en-US" sz="1800" kern="0" dirty="0">
                <a:solidFill>
                  <a:srgbClr val="44546A"/>
                </a:solidFill>
                <a:effectLst/>
              </a:rPr>
              <a:t> </a:t>
            </a:r>
            <a:r>
              <a:rPr lang="en-US" sz="1800" kern="0" dirty="0" err="1">
                <a:solidFill>
                  <a:srgbClr val="44546A"/>
                </a:solidFill>
                <a:effectLst/>
              </a:rPr>
              <a:t>analizu</a:t>
            </a:r>
            <a:r>
              <a:rPr lang="en-US" sz="1800" kern="0" dirty="0">
                <a:solidFill>
                  <a:srgbClr val="44546A"/>
                </a:solidFill>
                <a:effectLst/>
              </a:rPr>
              <a:t> </a:t>
            </a:r>
            <a:r>
              <a:rPr lang="en-US" sz="1800" kern="0" dirty="0" err="1">
                <a:solidFill>
                  <a:srgbClr val="44546A"/>
                </a:solidFill>
                <a:effectLst/>
              </a:rPr>
              <a:t>veličine</a:t>
            </a:r>
            <a:r>
              <a:rPr lang="en-US" sz="1800" kern="0" dirty="0">
                <a:solidFill>
                  <a:srgbClr val="44546A"/>
                </a:solidFill>
                <a:effectLst/>
              </a:rPr>
              <a:t> </a:t>
            </a:r>
            <a:r>
              <a:rPr lang="en-US" sz="1800" kern="0" dirty="0" err="1">
                <a:solidFill>
                  <a:srgbClr val="44546A"/>
                </a:solidFill>
                <a:effectLst/>
              </a:rPr>
              <a:t>fajlova</a:t>
            </a:r>
            <a:endParaRPr lang="en-US" sz="1800" dirty="0">
              <a:solidFill>
                <a:srgbClr val="44546A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135229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FB7940-2101-E3D4-CD03-79831703A047}"/>
              </a:ext>
            </a:extLst>
          </p:cNvPr>
          <p:cNvSpPr txBox="1"/>
          <p:nvPr/>
        </p:nvSpPr>
        <p:spPr>
          <a:xfrm>
            <a:off x="778042" y="745957"/>
            <a:ext cx="1063591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r-Latn-RS" sz="4400" dirty="0"/>
              <a:t>Kalendarska reprezentacija akvivnosti pristupa fajlovima</a:t>
            </a:r>
            <a:endParaRPr lang="en-US" sz="4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3510069-0904-0556-C385-CBFD980F45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756" y="2136360"/>
            <a:ext cx="7503695" cy="34594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10BEA59-7B58-5FC8-BF23-02ACA6A3DFA5}"/>
              </a:ext>
            </a:extLst>
          </p:cNvPr>
          <p:cNvSpPr txBox="1"/>
          <p:nvPr/>
        </p:nvSpPr>
        <p:spPr>
          <a:xfrm>
            <a:off x="3681044" y="5670885"/>
            <a:ext cx="48299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dirty="0"/>
              <a:t>Kalendarski prikaz broja pristupa fajloviam po danu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3870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2FA739-5FA4-27C5-397B-F62CDF40D9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067" y="673767"/>
            <a:ext cx="9893490" cy="475648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E0D53C6-9C2B-63F7-A368-91F9AA5AB6D3}"/>
              </a:ext>
            </a:extLst>
          </p:cNvPr>
          <p:cNvSpPr txBox="1"/>
          <p:nvPr/>
        </p:nvSpPr>
        <p:spPr>
          <a:xfrm>
            <a:off x="3561347" y="5518483"/>
            <a:ext cx="5935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dirty="0"/>
              <a:t>Dinamički k</a:t>
            </a:r>
            <a:r>
              <a:rPr lang="en-US" dirty="0" err="1"/>
              <a:t>alendar</a:t>
            </a:r>
            <a:r>
              <a:rPr lang="en-US" dirty="0"/>
              <a:t> </a:t>
            </a:r>
            <a:r>
              <a:rPr lang="en-US" dirty="0" err="1"/>
              <a:t>aktivnosti</a:t>
            </a:r>
            <a:r>
              <a:rPr lang="en-US" dirty="0"/>
              <a:t> </a:t>
            </a:r>
            <a:r>
              <a:rPr lang="en-US" dirty="0" err="1"/>
              <a:t>pristupa</a:t>
            </a:r>
            <a:r>
              <a:rPr lang="en-US" dirty="0"/>
              <a:t> </a:t>
            </a:r>
            <a:r>
              <a:rPr lang="en-US" dirty="0" err="1"/>
              <a:t>fajlovima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3707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B225F-E5DD-F373-0322-E4DD311DB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3"/>
            <a:ext cx="9601196" cy="405510"/>
          </a:xfrm>
        </p:spPr>
        <p:txBody>
          <a:bodyPr>
            <a:normAutofit fontScale="90000"/>
          </a:bodyPr>
          <a:lstStyle/>
          <a:p>
            <a:r>
              <a:rPr lang="sr-Latn-RS" dirty="0"/>
              <a:t>Detaljnije informacije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C15C43C-374D-C6D5-9EBB-4D637431E97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295402" y="1889376"/>
            <a:ext cx="4583704" cy="3753016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C0101EA-E184-E5B2-F9FA-7562A8F3FE8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935253" y="1893352"/>
            <a:ext cx="5238044" cy="37490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1EC347-FE21-0635-6231-AEBE9D95B584}"/>
              </a:ext>
            </a:extLst>
          </p:cNvPr>
          <p:cNvSpPr txBox="1"/>
          <p:nvPr/>
        </p:nvSpPr>
        <p:spPr>
          <a:xfrm>
            <a:off x="6984678" y="5778769"/>
            <a:ext cx="3139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dirty="0"/>
              <a:t>Dan sa najvise pristupa fajlovima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8301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AF18A-F887-5A70-DA87-A3369D2E3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Identifikacija anomalija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E3FCCB-470D-3623-E042-B3E2F5C38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053" y="2045234"/>
            <a:ext cx="9733545" cy="33930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91DA0A-5917-44A9-CCA8-B09E726A5EF2}"/>
              </a:ext>
            </a:extLst>
          </p:cNvPr>
          <p:cNvSpPr txBox="1"/>
          <p:nvPr/>
        </p:nvSpPr>
        <p:spPr>
          <a:xfrm>
            <a:off x="3585411" y="5645035"/>
            <a:ext cx="4309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dirty="0"/>
              <a:t>Detekcija anomalija u broju pristupa fajlovima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31674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D677A48-0B07-0FCA-BB96-887C7356E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516" y="890337"/>
            <a:ext cx="9872968" cy="42912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CA48AB0-1B3D-6A98-4E5D-9AAB2730D658}"/>
              </a:ext>
            </a:extLst>
          </p:cNvPr>
          <p:cNvSpPr txBox="1"/>
          <p:nvPr/>
        </p:nvSpPr>
        <p:spPr>
          <a:xfrm>
            <a:off x="2699516" y="5321332"/>
            <a:ext cx="63329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kern="100" dirty="0">
                <a:effectLst/>
                <a:ea typeface="宋体" panose="02010600030101010101" pitchFamily="2" charset="-122"/>
              </a:rPr>
              <a:t> Primer  jednog </a:t>
            </a:r>
            <a:r>
              <a:rPr lang="en-US" kern="100" dirty="0" err="1">
                <a:effectLst/>
                <a:ea typeface="宋体" panose="02010600030101010101" pitchFamily="2" charset="-122"/>
              </a:rPr>
              <a:t>normalnog</a:t>
            </a:r>
            <a:r>
              <a:rPr lang="en-US" kern="100" dirty="0">
                <a:effectLst/>
                <a:ea typeface="宋体" panose="02010600030101010101" pitchFamily="2" charset="-122"/>
              </a:rPr>
              <a:t> dana koji se ne </a:t>
            </a:r>
            <a:r>
              <a:rPr lang="en-US" kern="100" dirty="0" err="1">
                <a:effectLst/>
                <a:ea typeface="宋体" panose="02010600030101010101" pitchFamily="2" charset="-122"/>
              </a:rPr>
              <a:t>identifikuje</a:t>
            </a:r>
            <a:r>
              <a:rPr lang="en-US" kern="100" dirty="0">
                <a:effectLst/>
                <a:ea typeface="宋体" panose="02010600030101010101" pitchFamily="2" charset="-122"/>
              </a:rPr>
              <a:t> </a:t>
            </a:r>
            <a:r>
              <a:rPr lang="en-US" kern="100" dirty="0" err="1">
                <a:effectLst/>
                <a:ea typeface="宋体" panose="02010600030101010101" pitchFamily="2" charset="-122"/>
              </a:rPr>
              <a:t>kao</a:t>
            </a:r>
            <a:r>
              <a:rPr lang="en-US" kern="100" dirty="0">
                <a:effectLst/>
                <a:ea typeface="宋体" panose="02010600030101010101" pitchFamily="2" charset="-122"/>
              </a:rPr>
              <a:t> </a:t>
            </a:r>
            <a:r>
              <a:rPr lang="en-US" kern="100" dirty="0" err="1">
                <a:effectLst/>
                <a:ea typeface="宋体" panose="02010600030101010101" pitchFamily="2" charset="-122"/>
              </a:rPr>
              <a:t>anomalija</a:t>
            </a:r>
            <a:endParaRPr lang="en-US" kern="100" dirty="0">
              <a:effectLst/>
              <a:ea typeface="宋体" panose="02010600030101010101" pitchFamily="2" charset="-122"/>
            </a:endParaRP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58662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99851AF-09AC-EFE9-F221-405D67A452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904" y="723358"/>
            <a:ext cx="9787255" cy="454647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B59C27-D44E-AC4C-D312-3A65C8F36657}"/>
              </a:ext>
            </a:extLst>
          </p:cNvPr>
          <p:cNvSpPr txBox="1"/>
          <p:nvPr/>
        </p:nvSpPr>
        <p:spPr>
          <a:xfrm>
            <a:off x="4328714" y="5489774"/>
            <a:ext cx="2384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sr-Latn-RS" kern="100" dirty="0">
                <a:effectLst/>
                <a:ea typeface="宋体" panose="02010600030101010101" pitchFamily="2" charset="-122"/>
              </a:rPr>
              <a:t>Identifikovana anomalija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90450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46546-9AA4-3D30-438F-791F77F01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/>
              <a:t>Zaključak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8E0112F-2EF3-9E87-8532-C1F3C2FDEDD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95756" y="2638675"/>
            <a:ext cx="1088206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Implementiran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alat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za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analizu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vizualizaciju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metapodataka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fajlova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koristeći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Python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Pandas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Matplotlib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Alat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omogućava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praćenje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atributa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fajlova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veličina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tip, vreme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kreiranja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modifikacije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pristupa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Vizualizacije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pomažu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brzom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uočavanju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obrazaca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anomalija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 fajl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sistemu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Primena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digitalna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forenzika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optimizacija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skladištenja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nadzor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sistema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Dalji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razvoj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može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uključivati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interaktivne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dashboard-e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analizu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većih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datasetova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15230285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1627</TotalTime>
  <Words>480</Words>
  <Application>Microsoft Office PowerPoint</Application>
  <PresentationFormat>Widescreen</PresentationFormat>
  <Paragraphs>79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宋体</vt:lpstr>
      <vt:lpstr>Arial</vt:lpstr>
      <vt:lpstr>Calibri</vt:lpstr>
      <vt:lpstr>Garamond</vt:lpstr>
      <vt:lpstr>Organic</vt:lpstr>
      <vt:lpstr>Razvoj alata za analizu i vizualizaciju metapodataka fajlova  korišćenjem Python</vt:lpstr>
      <vt:lpstr>Sadržaj</vt:lpstr>
      <vt:lpstr>Uvod i cilj projekta </vt:lpstr>
      <vt:lpstr>Metapodaci fajlova</vt:lpstr>
      <vt:lpstr>Primer metapodataka</vt:lpstr>
      <vt:lpstr>Korišćene tehnologije</vt:lpstr>
      <vt:lpstr>Arhitektura i implementacija alata </vt:lpstr>
      <vt:lpstr>PowerPoint Presentation</vt:lpstr>
      <vt:lpstr>Detekcija anomalija</vt:lpstr>
      <vt:lpstr>IQR metoda</vt:lpstr>
      <vt:lpstr>PowerPoint Presentation</vt:lpstr>
      <vt:lpstr>Rezultati I primeri</vt:lpstr>
      <vt:lpstr>PowerPoint Presentation</vt:lpstr>
      <vt:lpstr>PowerPoint Presentation</vt:lpstr>
      <vt:lpstr>PowerPoint Presentation</vt:lpstr>
      <vt:lpstr>PowerPoint Presentation</vt:lpstr>
      <vt:lpstr>Detaljnije informacije</vt:lpstr>
      <vt:lpstr>Identifikacija anomalija</vt:lpstr>
      <vt:lpstr>PowerPoint Presentation</vt:lpstr>
      <vt:lpstr>PowerPoint Presentation</vt:lpstr>
      <vt:lpstr>Zaključak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Petar Mancic</dc:creator>
  <cp:lastModifiedBy>Petar Mancic</cp:lastModifiedBy>
  <cp:revision>11</cp:revision>
  <dcterms:created xsi:type="dcterms:W3CDTF">2026-01-10T18:11:09Z</dcterms:created>
  <dcterms:modified xsi:type="dcterms:W3CDTF">2026-01-11T21:18:34Z</dcterms:modified>
</cp:coreProperties>
</file>