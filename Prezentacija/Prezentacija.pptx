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17-01-26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95575-584E-F966-F1A7-E2B561492A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Razvoj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alata za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analizu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vizualizaciju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metapodataka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fajlova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br>
              <a:rPr lang="en-US" sz="7200" dirty="0"/>
            </a:br>
            <a:r>
              <a:rPr lang="en-US" sz="28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korišćenjem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Python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12EB1D-B08E-4694-1926-341223EB5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6"/>
            <a:ext cx="6900176" cy="1515533"/>
          </a:xfrm>
        </p:spPr>
        <p:txBody>
          <a:bodyPr>
            <a:normAutofit fontScale="85000" lnSpcReduction="20000"/>
          </a:bodyPr>
          <a:lstStyle/>
          <a:p>
            <a:endParaRPr lang="sr-Latn-RS" dirty="0"/>
          </a:p>
          <a:p>
            <a:r>
              <a:rPr lang="sr-Latn-RS" sz="2800" dirty="0"/>
              <a:t>Digitalna forenzika</a:t>
            </a:r>
          </a:p>
          <a:p>
            <a:endParaRPr lang="sr-Latn-RS" dirty="0"/>
          </a:p>
          <a:p>
            <a:r>
              <a:rPr lang="sr-Latn-RS" dirty="0"/>
              <a:t>										</a:t>
            </a:r>
            <a:r>
              <a:rPr lang="sr-Latn-RS" sz="2400" dirty="0"/>
              <a:t>Petar Mančic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561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4285-AE20-49A5-A81A-5723A952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1196" cy="1303867"/>
          </a:xfrm>
        </p:spPr>
        <p:txBody>
          <a:bodyPr/>
          <a:lstStyle/>
          <a:p>
            <a:r>
              <a:rPr lang="sr-Latn-RS" dirty="0"/>
              <a:t>Sadržaj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D05AD-02F7-645F-7540-18FCC1ED6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/>
              <a:t>Uvod i cilj projekta</a:t>
            </a:r>
          </a:p>
          <a:p>
            <a:r>
              <a:rPr lang="sr-Latn-RS" dirty="0"/>
              <a:t>Metapodaci fajlova</a:t>
            </a:r>
          </a:p>
          <a:p>
            <a:r>
              <a:rPr lang="sr-Latn-RS" dirty="0"/>
              <a:t>Korišćene tehnologije</a:t>
            </a:r>
          </a:p>
          <a:p>
            <a:r>
              <a:rPr lang="sr-Latn-RS" dirty="0"/>
              <a:t>Arhitektura i implementacija alata</a:t>
            </a:r>
          </a:p>
          <a:p>
            <a:r>
              <a:rPr lang="sr-Latn-RS" dirty="0"/>
              <a:t>Analiza i vizuelizacija podataka</a:t>
            </a:r>
          </a:p>
          <a:p>
            <a:r>
              <a:rPr lang="sr-Latn-RS" dirty="0"/>
              <a:t>Detekcija anomalija</a:t>
            </a:r>
          </a:p>
          <a:p>
            <a:r>
              <a:rPr lang="sr-Latn-RS" dirty="0"/>
              <a:t>Rezultati i primeri</a:t>
            </a:r>
          </a:p>
          <a:p>
            <a:r>
              <a:rPr lang="sr-Latn-RS" dirty="0"/>
              <a:t>Zaključak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98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BC8FA-18EA-0DE6-EF37-622862A4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Uvod i cilj projekta</a:t>
            </a:r>
            <a:br>
              <a:rPr lang="sr-Latn-R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025D5-A1A2-6BE9-85C1-583F752BE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Projekat se </a:t>
            </a:r>
            <a:r>
              <a:rPr lang="en-US" dirty="0" err="1"/>
              <a:t>bavi</a:t>
            </a:r>
            <a:r>
              <a:rPr lang="en-US" dirty="0"/>
              <a:t> </a:t>
            </a:r>
            <a:r>
              <a:rPr lang="en-US" dirty="0" err="1"/>
              <a:t>analizom</a:t>
            </a:r>
            <a:r>
              <a:rPr lang="en-US" dirty="0"/>
              <a:t> </a:t>
            </a:r>
            <a:r>
              <a:rPr lang="en-US" dirty="0" err="1"/>
              <a:t>metapodataka</a:t>
            </a:r>
            <a:r>
              <a:rPr lang="en-US" dirty="0"/>
              <a:t> </a:t>
            </a:r>
            <a:r>
              <a:rPr lang="en-US" dirty="0" err="1"/>
              <a:t>fajlova</a:t>
            </a:r>
            <a:endParaRPr lang="en-US" dirty="0"/>
          </a:p>
          <a:p>
            <a:r>
              <a:rPr lang="en-US" dirty="0" err="1"/>
              <a:t>Fokus</a:t>
            </a:r>
            <a:r>
              <a:rPr lang="en-US" dirty="0"/>
              <a:t> je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sr-Latn-RS" dirty="0"/>
              <a:t>ćenju pristupa i strukture fajl sistema</a:t>
            </a:r>
          </a:p>
          <a:p>
            <a:r>
              <a:rPr lang="sr-Latn-RS" dirty="0"/>
              <a:t>Korišćen je Python za obradu i vizuelizaciju  podataka</a:t>
            </a:r>
          </a:p>
          <a:p>
            <a:r>
              <a:rPr lang="sr-Latn-RS" b="1" dirty="0"/>
              <a:t>Cilj projekta </a:t>
            </a:r>
          </a:p>
          <a:p>
            <a:r>
              <a:rPr lang="sr-Latn-RS" dirty="0"/>
              <a:t>Automatizovana analiza  metapodata fajlova</a:t>
            </a:r>
          </a:p>
          <a:p>
            <a:r>
              <a:rPr lang="sr-Latn-RS" dirty="0"/>
              <a:t>Vizuelni prikaz akvinosti i obrazaca pristupa</a:t>
            </a:r>
          </a:p>
          <a:p>
            <a:r>
              <a:rPr lang="sr-Latn-RS" dirty="0"/>
              <a:t>Uočavanje anomalija i neubičajenog ponašanja u fajl sistemu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138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D7933-1A43-2787-E8A5-CC7182D9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Metapodaci fajlova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C5E31-F4BD-269C-1B03-F39B05E1B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Metapodaci su podaci o podacima</a:t>
            </a:r>
          </a:p>
          <a:p>
            <a:r>
              <a:rPr lang="sr-Latn-RS" dirty="0"/>
              <a:t>Opisuju fajl: naziv, veličinu, tip, vreme kreiranja, vreme izmene, poslednjeg pristupa</a:t>
            </a:r>
          </a:p>
          <a:p>
            <a:r>
              <a:rPr lang="sr-Latn-RS" dirty="0"/>
              <a:t>Ne sadrže sadržaj fajla, vec informacije o njemu</a:t>
            </a:r>
          </a:p>
          <a:p>
            <a:r>
              <a:rPr lang="sr-Latn-RS" dirty="0"/>
              <a:t>Koriste se za analizu, organizaciju i bezbednosni nadzor fajlova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353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9C84-00BE-A06E-E781-4F548B60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metapodataka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6C9C29-1420-0A76-2E0A-928794A4F7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7221" y="2820297"/>
            <a:ext cx="9601200" cy="76511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8209A4-F673-F067-D2A8-13D99708FD2F}"/>
              </a:ext>
            </a:extLst>
          </p:cNvPr>
          <p:cNvSpPr txBox="1"/>
          <p:nvPr/>
        </p:nvSpPr>
        <p:spPr>
          <a:xfrm>
            <a:off x="1295402" y="3741005"/>
            <a:ext cx="9970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400" dirty="0"/>
              <a:t>Primer metapodataka o jednom folderu.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53144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2FB3-E197-A04C-8406-62F14CB2A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Korišćene tehnologije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28A6CB-2E0E-54D4-36BE-CFB8900E1D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2" y="2821971"/>
            <a:ext cx="957255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Python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– glavni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programski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jezik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zbog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jednostavne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obrade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podataka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Pandas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– za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analizu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manipulaciju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metapodataka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Matplotlib / Seaborn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– za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grafičku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vizuelizaciju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podataka</a:t>
            </a:r>
            <a:endParaRPr kumimoji="0" lang="sr-Latn-R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b="1" dirty="0"/>
              <a:t>Scatter plot</a:t>
            </a:r>
            <a:r>
              <a:rPr lang="sr-Latn-RS" dirty="0"/>
              <a:t>- prikaz raspodele i dinamike pristupa fajlovima (calendar activity)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98067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E834D-F345-5138-B918-5C1E9E73E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Arhitektura i implementacija alata</a:t>
            </a:r>
            <a:br>
              <a:rPr lang="sr-Latn-R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3450-DEA5-2B64-C7DA-56C3FE156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Prikupljanje metapodataka iz fajl sistema</a:t>
            </a:r>
          </a:p>
          <a:p>
            <a:r>
              <a:rPr lang="sr-Latn-RS" dirty="0"/>
              <a:t>Obrada i analiza podataka u Python-u</a:t>
            </a:r>
          </a:p>
          <a:p>
            <a:r>
              <a:rPr lang="sr-Latn-RS" dirty="0"/>
              <a:t>Detekcija anomalija</a:t>
            </a:r>
          </a:p>
          <a:p>
            <a:r>
              <a:rPr lang="sr-Latn-RS" dirty="0"/>
              <a:t>Vizuelizacija rezultata (grafici, bar chart i pie chart, caltplot)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746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diagram of a diagram">
            <a:extLst>
              <a:ext uri="{FF2B5EF4-FFF2-40B4-BE49-F238E27FC236}">
                <a16:creationId xmlns:a16="http://schemas.microsoft.com/office/drawing/2014/main" id="{9EB90F34-03C9-CE8A-0EF0-98DE2E488B1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 r="-4502" b="63826"/>
          <a:stretch/>
        </p:blipFill>
        <p:spPr>
          <a:xfrm>
            <a:off x="882650" y="919833"/>
            <a:ext cx="5213350" cy="299085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7741B7-0CA5-F772-1D81-62B6CCC259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7" t="36452" r="1750" b="19744"/>
          <a:stretch/>
        </p:blipFill>
        <p:spPr>
          <a:xfrm>
            <a:off x="6400800" y="774953"/>
            <a:ext cx="3593432" cy="32806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9A9D9E-E657-43BE-987C-FC9AF46B93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220" r="1534"/>
          <a:stretch/>
        </p:blipFill>
        <p:spPr>
          <a:xfrm>
            <a:off x="6488329" y="4070045"/>
            <a:ext cx="3650282" cy="14064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DEB79C-234A-9EF4-448C-61FF751D398A}"/>
              </a:ext>
            </a:extLst>
          </p:cNvPr>
          <p:cNvSpPr txBox="1"/>
          <p:nvPr/>
        </p:nvSpPr>
        <p:spPr>
          <a:xfrm>
            <a:off x="1010653" y="5476502"/>
            <a:ext cx="2616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400" dirty="0"/>
              <a:t>Flowchart programa</a:t>
            </a:r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95A3CF-11DF-E898-4938-A32F7679A8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95" t="18765" r="17919" b="18947"/>
          <a:stretch/>
        </p:blipFill>
        <p:spPr>
          <a:xfrm>
            <a:off x="2919661" y="3895947"/>
            <a:ext cx="296781" cy="26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91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6FC75-DE7A-29E6-3852-DBEAF5CF6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Detekcija anomalija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806CF9-0A2B-0EE3-3A05-D89B70957A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7697" y="2459504"/>
            <a:ext cx="818198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Anomalije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predstavljaju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neuobičajene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obrasce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pristupu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fajlovima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Detekcija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vrši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statističkim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metodama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npr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IQR)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Identifikacija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ekstremnih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vrednosti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odstupanja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Pomaže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otkrivanju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potencijalno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sumnjivih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aktivnosti</a:t>
            </a:r>
            <a:endParaRPr kumimoji="0" lang="sr-Latn-R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68890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099E-7A30-D9FA-59B6-D053D607B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98542"/>
          </a:xfrm>
        </p:spPr>
        <p:txBody>
          <a:bodyPr/>
          <a:lstStyle/>
          <a:p>
            <a:r>
              <a:rPr lang="sr-Latn-RS" dirty="0"/>
              <a:t>IQR metoda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5313B-5980-5351-A4C6-585202EF4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62464"/>
            <a:ext cx="9601196" cy="3413404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Q1, Q3 i IQR</a:t>
            </a:r>
          </a:p>
          <a:p>
            <a:r>
              <a:rPr lang="sr-Latn-RS" b="1" dirty="0"/>
              <a:t>Q1(prvi kvartil)</a:t>
            </a:r>
            <a:r>
              <a:rPr lang="sr-Latn-RS" dirty="0"/>
              <a:t>- predstavlja vrednost ispod koje se nalazi 25% svih podataka</a:t>
            </a:r>
          </a:p>
          <a:p>
            <a:r>
              <a:rPr lang="sr-Latn-RS" b="1" dirty="0"/>
              <a:t>Q3(treći kvartil)</a:t>
            </a:r>
            <a:r>
              <a:rPr lang="sr-Latn-RS" dirty="0"/>
              <a:t>- predstavlja vrednost ispod koje se nalazi 75% svih podataka </a:t>
            </a:r>
          </a:p>
          <a:p>
            <a:r>
              <a:rPr lang="sr-Latn-RS" b="1" dirty="0"/>
              <a:t>IQR(interquartile Range)- </a:t>
            </a:r>
            <a:r>
              <a:rPr lang="sr-Latn-RS" dirty="0"/>
              <a:t>predstavlja raspon izmedju prvog i trećec kvartila i</a:t>
            </a:r>
          </a:p>
          <a:p>
            <a:pPr marL="0" indent="0">
              <a:buNone/>
            </a:pPr>
            <a:r>
              <a:rPr lang="sr-Latn-RS" dirty="0"/>
              <a:t>    računa se kao :</a:t>
            </a:r>
          </a:p>
          <a:p>
            <a:pPr marL="0" indent="0" algn="ctr">
              <a:buNone/>
            </a:pPr>
            <a:r>
              <a:rPr lang="sr-Latn-RS" b="1" dirty="0"/>
              <a:t>	IQR</a:t>
            </a:r>
            <a:r>
              <a:rPr lang="en-US" b="1" dirty="0"/>
              <a:t>=Q3-Q1</a:t>
            </a:r>
          </a:p>
          <a:p>
            <a:pPr marL="0" indent="0">
              <a:buNone/>
            </a:pPr>
            <a:r>
              <a:rPr lang="en-US" b="1" dirty="0"/>
              <a:t>IQR </a:t>
            </a:r>
            <a:r>
              <a:rPr lang="en-US" dirty="0"/>
              <a:t> </a:t>
            </a:r>
            <a:r>
              <a:rPr lang="en-US" dirty="0" err="1"/>
              <a:t>opisuje</a:t>
            </a:r>
            <a:r>
              <a:rPr lang="en-US" dirty="0"/>
              <a:t> “</a:t>
            </a:r>
            <a:r>
              <a:rPr lang="en-US" dirty="0" err="1"/>
              <a:t>normalan</a:t>
            </a:r>
            <a:r>
              <a:rPr lang="en-US" dirty="0"/>
              <a:t>” </a:t>
            </a:r>
            <a:r>
              <a:rPr lang="en-US" dirty="0" err="1"/>
              <a:t>raspon</a:t>
            </a:r>
            <a:r>
              <a:rPr lang="en-US" dirty="0"/>
              <a:t> </a:t>
            </a:r>
            <a:r>
              <a:rPr lang="en-US" dirty="0" err="1"/>
              <a:t>srednjih</a:t>
            </a:r>
            <a:r>
              <a:rPr lang="en-US" dirty="0"/>
              <a:t> 50% podataka I </a:t>
            </a:r>
            <a:r>
              <a:rPr lang="en-US" dirty="0" err="1"/>
              <a:t>koristi</a:t>
            </a:r>
            <a:r>
              <a:rPr lang="en-US" dirty="0"/>
              <a:t> se za </a:t>
            </a:r>
            <a:r>
              <a:rPr lang="en-US" dirty="0" err="1"/>
              <a:t>identifikaciju</a:t>
            </a:r>
            <a:r>
              <a:rPr lang="en-US" dirty="0"/>
              <a:t> </a:t>
            </a:r>
            <a:r>
              <a:rPr lang="en-US" dirty="0" err="1"/>
              <a:t>odstpuanja</a:t>
            </a:r>
            <a:endParaRPr lang="sr-Latn-R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14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EFEAAE-51F3-B428-C2BD-1BE76B83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926" y="818475"/>
            <a:ext cx="9601196" cy="1303867"/>
          </a:xfrm>
        </p:spPr>
        <p:txBody>
          <a:bodyPr/>
          <a:lstStyle/>
          <a:p>
            <a:r>
              <a:rPr lang="sr-Latn-RS" sz="4400" dirty="0"/>
              <a:t>Pravilo za detekciju anomalija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CA81A7-EFFA-E69B-4B4F-BDB2D8BE5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971395"/>
            <a:ext cx="9601196" cy="3318936"/>
          </a:xfrm>
        </p:spPr>
        <p:txBody>
          <a:bodyPr>
            <a:normAutofit lnSpcReduction="10000"/>
          </a:bodyPr>
          <a:lstStyle/>
          <a:p>
            <a:endParaRPr lang="sr-Latn-RS" dirty="0"/>
          </a:p>
          <a:p>
            <a:pPr algn="ctr"/>
            <a:r>
              <a:rPr lang="sr-Latn-RS" dirty="0"/>
              <a:t>	</a:t>
            </a:r>
          </a:p>
          <a:p>
            <a:r>
              <a:rPr lang="en-US" sz="2400" dirty="0" err="1"/>
              <a:t>Odre</a:t>
            </a:r>
            <a:r>
              <a:rPr lang="sr-Latn-RS" sz="2400" dirty="0"/>
              <a:t>đivanje donje granice: Q1-1.5*IQR</a:t>
            </a:r>
          </a:p>
          <a:p>
            <a:r>
              <a:rPr lang="en-US" sz="2400" dirty="0" err="1"/>
              <a:t>Odre</a:t>
            </a:r>
            <a:r>
              <a:rPr lang="sr-Latn-RS" sz="2400" dirty="0"/>
              <a:t>đivanje gornje granice: Q1+1.5*IQR</a:t>
            </a:r>
          </a:p>
          <a:p>
            <a:endParaRPr lang="sr-Latn-RS" sz="2400" dirty="0"/>
          </a:p>
          <a:p>
            <a:r>
              <a:rPr lang="sr-Latn-RS" sz="2400" dirty="0"/>
              <a:t>Sve vrdnosti koje se nalaze ispod donje granice ili iznad gornje granice smatraju se anomalijama.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181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18573C-EFF0-109F-71F7-6681690A513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 t="6549"/>
          <a:stretch/>
        </p:blipFill>
        <p:spPr>
          <a:xfrm>
            <a:off x="1175084" y="577516"/>
            <a:ext cx="9841831" cy="50693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2D913A-7091-2982-B8C5-5521286EB8E7}"/>
              </a:ext>
            </a:extLst>
          </p:cNvPr>
          <p:cNvSpPr txBox="1"/>
          <p:nvPr/>
        </p:nvSpPr>
        <p:spPr>
          <a:xfrm>
            <a:off x="3702767" y="5743074"/>
            <a:ext cx="4312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kern="0" dirty="0" err="1">
                <a:solidFill>
                  <a:srgbClr val="44546A"/>
                </a:solidFill>
                <a:effectLst/>
              </a:rPr>
              <a:t>Detekcija</a:t>
            </a:r>
            <a:r>
              <a:rPr lang="en-US" sz="1800" kern="0" dirty="0">
                <a:solidFill>
                  <a:srgbClr val="44546A"/>
                </a:solidFill>
                <a:effectLst/>
              </a:rPr>
              <a:t> </a:t>
            </a:r>
            <a:r>
              <a:rPr lang="en-US" sz="1800" kern="0" dirty="0" err="1">
                <a:solidFill>
                  <a:srgbClr val="44546A"/>
                </a:solidFill>
                <a:effectLst/>
              </a:rPr>
              <a:t>anomalija</a:t>
            </a:r>
            <a:r>
              <a:rPr lang="en-US" sz="1800" kern="0" dirty="0">
                <a:solidFill>
                  <a:srgbClr val="44546A"/>
                </a:solidFill>
                <a:effectLst/>
              </a:rPr>
              <a:t> u </a:t>
            </a:r>
            <a:r>
              <a:rPr lang="en-US" sz="1800" kern="0" dirty="0" err="1">
                <a:solidFill>
                  <a:srgbClr val="44546A"/>
                </a:solidFill>
                <a:effectLst/>
              </a:rPr>
              <a:t>broju</a:t>
            </a:r>
            <a:r>
              <a:rPr lang="en-US" sz="1800" kern="0" dirty="0">
                <a:solidFill>
                  <a:srgbClr val="44546A"/>
                </a:solidFill>
                <a:effectLst/>
              </a:rPr>
              <a:t> </a:t>
            </a:r>
            <a:r>
              <a:rPr lang="en-US" sz="1800" kern="0" dirty="0" err="1">
                <a:solidFill>
                  <a:srgbClr val="44546A"/>
                </a:solidFill>
                <a:effectLst/>
              </a:rPr>
              <a:t>pristupa</a:t>
            </a:r>
            <a:r>
              <a:rPr lang="en-US" sz="1800" kern="0" dirty="0">
                <a:solidFill>
                  <a:srgbClr val="44546A"/>
                </a:solidFill>
                <a:effectLst/>
              </a:rPr>
              <a:t> </a:t>
            </a:r>
            <a:r>
              <a:rPr lang="en-US" sz="1800" kern="0" dirty="0" err="1">
                <a:solidFill>
                  <a:srgbClr val="44546A"/>
                </a:solidFill>
                <a:effectLst/>
              </a:rPr>
              <a:t>fajlovima</a:t>
            </a:r>
            <a:endParaRPr lang="en-US" sz="1800" dirty="0">
              <a:solidFill>
                <a:srgbClr val="44546A"/>
              </a:solidFill>
              <a:effectLst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019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AAF78-78EC-802E-B280-0F55E2351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Rezultati</a:t>
            </a:r>
            <a:r>
              <a:rPr lang="en-US" dirty="0"/>
              <a:t> I </a:t>
            </a:r>
            <a:r>
              <a:rPr lang="en-US" dirty="0" err="1"/>
              <a:t>primeri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F2BDA-D08A-F282-8ED1-AE1B62520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Generisanje</a:t>
            </a:r>
            <a:r>
              <a:rPr lang="en-US" dirty="0"/>
              <a:t> 4 </a:t>
            </a:r>
            <a:r>
              <a:rPr lang="en-US" dirty="0" err="1"/>
              <a:t>razli</a:t>
            </a:r>
            <a:r>
              <a:rPr lang="sr-Latn-RS" dirty="0"/>
              <a:t>čitih grafika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dirty="0"/>
              <a:t>Analiza fajlova po tipovima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dirty="0"/>
              <a:t>Analiza fajlova po veličini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dirty="0"/>
              <a:t>Kalendarska reprezentacija aktivnosti pristupa fajlovima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dirty="0"/>
              <a:t>Identifikacija anomalija</a:t>
            </a:r>
          </a:p>
          <a:p>
            <a:pPr marL="0" indent="0">
              <a:buNone/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025324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A7AEA0-B54D-A390-AA36-6D05F3012952}"/>
              </a:ext>
            </a:extLst>
          </p:cNvPr>
          <p:cNvSpPr txBox="1"/>
          <p:nvPr/>
        </p:nvSpPr>
        <p:spPr>
          <a:xfrm>
            <a:off x="-344908" y="713874"/>
            <a:ext cx="117107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4400" b="1" dirty="0">
                <a:latin typeface="+mj-lt"/>
              </a:rPr>
              <a:t>Analiza fajlova po tipovima</a:t>
            </a:r>
            <a:endParaRPr lang="en-US" sz="4400" b="1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910545-4ADA-FD66-FF47-868734A0B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30" r="1583"/>
          <a:stretch/>
        </p:blipFill>
        <p:spPr>
          <a:xfrm>
            <a:off x="1331496" y="1491336"/>
            <a:ext cx="9216188" cy="42724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E10658-7084-1677-256E-D55E0FA56B3E}"/>
              </a:ext>
            </a:extLst>
          </p:cNvPr>
          <p:cNvSpPr txBox="1"/>
          <p:nvPr/>
        </p:nvSpPr>
        <p:spPr>
          <a:xfrm>
            <a:off x="4552024" y="5755719"/>
            <a:ext cx="2672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800" kern="0" dirty="0">
                <a:solidFill>
                  <a:srgbClr val="44546A"/>
                </a:solidFill>
                <a:effectLst/>
              </a:rPr>
              <a:t>Distribuacija fajlova po tipu</a:t>
            </a:r>
            <a:endParaRPr lang="it-IT" sz="1800" dirty="0">
              <a:solidFill>
                <a:srgbClr val="44546A"/>
              </a:solidFill>
              <a:effectLst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947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6C29FF-A704-9E98-D6CF-FC49C8991BCD}"/>
              </a:ext>
            </a:extLst>
          </p:cNvPr>
          <p:cNvSpPr txBox="1"/>
          <p:nvPr/>
        </p:nvSpPr>
        <p:spPr>
          <a:xfrm>
            <a:off x="0" y="705852"/>
            <a:ext cx="115583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4400" b="1" dirty="0"/>
              <a:t>Analiza fajlova po veličini</a:t>
            </a:r>
            <a:endParaRPr lang="en-US" sz="4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B414B5-C285-31A3-C568-777FE9D3A6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84" b="-1612"/>
          <a:stretch/>
        </p:blipFill>
        <p:spPr>
          <a:xfrm>
            <a:off x="1660357" y="1431372"/>
            <a:ext cx="8129337" cy="44400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C6B2AE-6BB9-9702-CC93-0345787B4C1B}"/>
              </a:ext>
            </a:extLst>
          </p:cNvPr>
          <p:cNvSpPr txBox="1"/>
          <p:nvPr/>
        </p:nvSpPr>
        <p:spPr>
          <a:xfrm>
            <a:off x="3173134" y="5782816"/>
            <a:ext cx="4698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800" kern="0" dirty="0" err="1">
                <a:solidFill>
                  <a:srgbClr val="44546A"/>
                </a:solidFill>
                <a:effectLst/>
              </a:rPr>
              <a:t>Grafikoni</a:t>
            </a:r>
            <a:r>
              <a:rPr lang="en-US" sz="1800" kern="0" dirty="0">
                <a:solidFill>
                  <a:srgbClr val="44546A"/>
                </a:solidFill>
                <a:effectLst/>
              </a:rPr>
              <a:t> koji </a:t>
            </a:r>
            <a:r>
              <a:rPr lang="en-US" sz="1800" kern="0" dirty="0" err="1">
                <a:solidFill>
                  <a:srgbClr val="44546A"/>
                </a:solidFill>
                <a:effectLst/>
              </a:rPr>
              <a:t>predstavljaju</a:t>
            </a:r>
            <a:r>
              <a:rPr lang="en-US" sz="1800" kern="0" dirty="0">
                <a:solidFill>
                  <a:srgbClr val="44546A"/>
                </a:solidFill>
                <a:effectLst/>
              </a:rPr>
              <a:t> </a:t>
            </a:r>
            <a:r>
              <a:rPr lang="en-US" sz="1800" kern="0" dirty="0" err="1">
                <a:solidFill>
                  <a:srgbClr val="44546A"/>
                </a:solidFill>
                <a:effectLst/>
              </a:rPr>
              <a:t>analizu</a:t>
            </a:r>
            <a:r>
              <a:rPr lang="en-US" sz="1800" kern="0" dirty="0">
                <a:solidFill>
                  <a:srgbClr val="44546A"/>
                </a:solidFill>
                <a:effectLst/>
              </a:rPr>
              <a:t> </a:t>
            </a:r>
            <a:r>
              <a:rPr lang="en-US" sz="1800" kern="0" dirty="0" err="1">
                <a:solidFill>
                  <a:srgbClr val="44546A"/>
                </a:solidFill>
                <a:effectLst/>
              </a:rPr>
              <a:t>veličine</a:t>
            </a:r>
            <a:r>
              <a:rPr lang="en-US" sz="1800" kern="0" dirty="0">
                <a:solidFill>
                  <a:srgbClr val="44546A"/>
                </a:solidFill>
                <a:effectLst/>
              </a:rPr>
              <a:t> </a:t>
            </a:r>
            <a:r>
              <a:rPr lang="en-US" sz="1800" kern="0" dirty="0" err="1">
                <a:solidFill>
                  <a:srgbClr val="44546A"/>
                </a:solidFill>
                <a:effectLst/>
              </a:rPr>
              <a:t>fajlova</a:t>
            </a:r>
            <a:endParaRPr lang="en-US" sz="1800" dirty="0">
              <a:solidFill>
                <a:srgbClr val="44546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13522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FB7940-2101-E3D4-CD03-79831703A047}"/>
              </a:ext>
            </a:extLst>
          </p:cNvPr>
          <p:cNvSpPr txBox="1"/>
          <p:nvPr/>
        </p:nvSpPr>
        <p:spPr>
          <a:xfrm>
            <a:off x="778042" y="745957"/>
            <a:ext cx="106359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4400" dirty="0"/>
              <a:t>Kalendarska reprezentacija akvivnosti pristupa fajlovima</a:t>
            </a: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10069-0904-0556-C385-CBFD980F4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756" y="2136360"/>
            <a:ext cx="7503695" cy="3459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0BEA59-7B58-5FC8-BF23-02ACA6A3DFA5}"/>
              </a:ext>
            </a:extLst>
          </p:cNvPr>
          <p:cNvSpPr txBox="1"/>
          <p:nvPr/>
        </p:nvSpPr>
        <p:spPr>
          <a:xfrm>
            <a:off x="3681044" y="5670885"/>
            <a:ext cx="4829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/>
              <a:t>Kalendarski prikaz broja pristupa fajloviam po danu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87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2FA739-5FA4-27C5-397B-F62CDF40D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67" y="673767"/>
            <a:ext cx="9893490" cy="47564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0D53C6-9C2B-63F7-A368-91F9AA5AB6D3}"/>
              </a:ext>
            </a:extLst>
          </p:cNvPr>
          <p:cNvSpPr txBox="1"/>
          <p:nvPr/>
        </p:nvSpPr>
        <p:spPr>
          <a:xfrm>
            <a:off x="3561347" y="5518483"/>
            <a:ext cx="593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Dinamički k</a:t>
            </a:r>
            <a:r>
              <a:rPr lang="en-US" dirty="0" err="1"/>
              <a:t>alendar</a:t>
            </a:r>
            <a:r>
              <a:rPr lang="en-US" dirty="0"/>
              <a:t> </a:t>
            </a:r>
            <a:r>
              <a:rPr lang="en-US" dirty="0" err="1"/>
              <a:t>aktivnosti</a:t>
            </a:r>
            <a:r>
              <a:rPr lang="en-US" dirty="0"/>
              <a:t> </a:t>
            </a:r>
            <a:r>
              <a:rPr lang="en-US" dirty="0" err="1"/>
              <a:t>pristupa</a:t>
            </a:r>
            <a:r>
              <a:rPr lang="en-US" dirty="0"/>
              <a:t> </a:t>
            </a:r>
            <a:r>
              <a:rPr lang="en-US" dirty="0" err="1"/>
              <a:t>fajlovima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370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225F-E5DD-F373-0322-E4DD311DB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405510"/>
          </a:xfrm>
        </p:spPr>
        <p:txBody>
          <a:bodyPr>
            <a:normAutofit fontScale="90000"/>
          </a:bodyPr>
          <a:lstStyle/>
          <a:p>
            <a:r>
              <a:rPr lang="sr-Latn-RS" dirty="0"/>
              <a:t>Detaljnije informacije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15C43C-374D-C6D5-9EBB-4D637431E97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95402" y="1889376"/>
            <a:ext cx="4583704" cy="3753016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C0101EA-E184-E5B2-F9FA-7562A8F3FE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35253" y="1893352"/>
            <a:ext cx="5238044" cy="3749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1EC347-FE21-0635-6231-AEBE9D95B584}"/>
              </a:ext>
            </a:extLst>
          </p:cNvPr>
          <p:cNvSpPr txBox="1"/>
          <p:nvPr/>
        </p:nvSpPr>
        <p:spPr>
          <a:xfrm>
            <a:off x="6984678" y="5778769"/>
            <a:ext cx="3139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/>
              <a:t>Dan sa najvise pristupa fajlovima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301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AF18A-F887-5A70-DA87-A3369D2E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Identifikacija anomalija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3FCCB-470D-3623-E042-B3E2F5C38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053" y="2045234"/>
            <a:ext cx="9733545" cy="3393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91DA0A-5917-44A9-CCA8-B09E726A5EF2}"/>
              </a:ext>
            </a:extLst>
          </p:cNvPr>
          <p:cNvSpPr txBox="1"/>
          <p:nvPr/>
        </p:nvSpPr>
        <p:spPr>
          <a:xfrm>
            <a:off x="3585411" y="5645035"/>
            <a:ext cx="4309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/>
              <a:t>Detekcija anomalija u broju pristupa fajlovima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167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677A48-0B07-0FCA-BB96-887C7356E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16" y="890337"/>
            <a:ext cx="9872968" cy="42912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A48AB0-1B3D-6A98-4E5D-9AAB2730D658}"/>
              </a:ext>
            </a:extLst>
          </p:cNvPr>
          <p:cNvSpPr txBox="1"/>
          <p:nvPr/>
        </p:nvSpPr>
        <p:spPr>
          <a:xfrm>
            <a:off x="2699516" y="5321332"/>
            <a:ext cx="6332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kern="100" dirty="0">
                <a:effectLst/>
                <a:ea typeface="宋体" panose="02010600030101010101" pitchFamily="2" charset="-122"/>
              </a:rPr>
              <a:t> Primer  jednog </a:t>
            </a:r>
            <a:r>
              <a:rPr lang="en-US" kern="100" dirty="0" err="1">
                <a:effectLst/>
                <a:ea typeface="宋体" panose="02010600030101010101" pitchFamily="2" charset="-122"/>
              </a:rPr>
              <a:t>normalnog</a:t>
            </a:r>
            <a:r>
              <a:rPr lang="en-US" kern="100" dirty="0">
                <a:effectLst/>
                <a:ea typeface="宋体" panose="02010600030101010101" pitchFamily="2" charset="-122"/>
              </a:rPr>
              <a:t> dana koji se ne </a:t>
            </a:r>
            <a:r>
              <a:rPr lang="en-US" kern="100" dirty="0" err="1">
                <a:effectLst/>
                <a:ea typeface="宋体" panose="02010600030101010101" pitchFamily="2" charset="-122"/>
              </a:rPr>
              <a:t>identifikuje</a:t>
            </a:r>
            <a:r>
              <a:rPr lang="en-US" kern="100" dirty="0">
                <a:effectLst/>
                <a:ea typeface="宋体" panose="02010600030101010101" pitchFamily="2" charset="-122"/>
              </a:rPr>
              <a:t> </a:t>
            </a:r>
            <a:r>
              <a:rPr lang="en-US" kern="100" dirty="0" err="1">
                <a:effectLst/>
                <a:ea typeface="宋体" panose="02010600030101010101" pitchFamily="2" charset="-122"/>
              </a:rPr>
              <a:t>kao</a:t>
            </a:r>
            <a:r>
              <a:rPr lang="en-US" kern="100" dirty="0">
                <a:effectLst/>
                <a:ea typeface="宋体" panose="02010600030101010101" pitchFamily="2" charset="-122"/>
              </a:rPr>
              <a:t> </a:t>
            </a:r>
            <a:r>
              <a:rPr lang="en-US" kern="100" dirty="0" err="1">
                <a:effectLst/>
                <a:ea typeface="宋体" panose="02010600030101010101" pitchFamily="2" charset="-122"/>
              </a:rPr>
              <a:t>anomalija</a:t>
            </a:r>
            <a:endParaRPr lang="en-US" kern="100" dirty="0">
              <a:effectLst/>
              <a:ea typeface="宋体" panose="02010600030101010101" pitchFamily="2" charset="-122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866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9851AF-09AC-EFE9-F221-405D67A45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904" y="723358"/>
            <a:ext cx="9787255" cy="45464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B59C27-D44E-AC4C-D312-3A65C8F36657}"/>
              </a:ext>
            </a:extLst>
          </p:cNvPr>
          <p:cNvSpPr txBox="1"/>
          <p:nvPr/>
        </p:nvSpPr>
        <p:spPr>
          <a:xfrm>
            <a:off x="4328714" y="5489774"/>
            <a:ext cx="2384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r-Latn-RS" kern="100" dirty="0">
                <a:effectLst/>
                <a:ea typeface="宋体" panose="02010600030101010101" pitchFamily="2" charset="-122"/>
              </a:rPr>
              <a:t>Identifikovana anomalija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045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46546-9AA4-3D30-438F-791F77F0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Zaključak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E0112F-2EF3-9E87-8532-C1F3C2FDED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5756" y="2638675"/>
            <a:ext cx="1088206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Implementiran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za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analizu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vizualizaciju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metapodataka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fajlova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koristeći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Pandas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Matplotlib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Alat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omogućava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praćenje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atributa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fajlova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veličina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tip, vreme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kreiranja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modifikacije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pristupa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Vizualizacije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pomažu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brzom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uočavanju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obrazaca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anomalija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 fajl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sistemu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Primena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digitalna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forenzika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optimizacija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skladištenja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nadzor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sistema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Dalji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razvoj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može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uključivati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interaktivne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dashboard-e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analizu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većih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datasetova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523028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1679</TotalTime>
  <Words>517</Words>
  <Application>Microsoft Office PowerPoint</Application>
  <PresentationFormat>Widescreen</PresentationFormat>
  <Paragraphs>86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宋体</vt:lpstr>
      <vt:lpstr>Arial</vt:lpstr>
      <vt:lpstr>Calibri</vt:lpstr>
      <vt:lpstr>Garamond</vt:lpstr>
      <vt:lpstr>Organic</vt:lpstr>
      <vt:lpstr>Razvoj alata za analizu i vizualizaciju metapodataka fajlova  korišćenjem Python</vt:lpstr>
      <vt:lpstr>Sadržaj</vt:lpstr>
      <vt:lpstr>Uvod i cilj projekta </vt:lpstr>
      <vt:lpstr>Metapodaci fajlova</vt:lpstr>
      <vt:lpstr>Primer metapodataka</vt:lpstr>
      <vt:lpstr>Korišćene tehnologije</vt:lpstr>
      <vt:lpstr>Arhitektura i implementacija alata </vt:lpstr>
      <vt:lpstr>PowerPoint Presentation</vt:lpstr>
      <vt:lpstr>Detekcija anomalija</vt:lpstr>
      <vt:lpstr>IQR metoda</vt:lpstr>
      <vt:lpstr>Pravilo za detekciju anomalija</vt:lpstr>
      <vt:lpstr>PowerPoint Presentation</vt:lpstr>
      <vt:lpstr>Rezultati I primeri</vt:lpstr>
      <vt:lpstr>PowerPoint Presentation</vt:lpstr>
      <vt:lpstr>PowerPoint Presentation</vt:lpstr>
      <vt:lpstr>PowerPoint Presentation</vt:lpstr>
      <vt:lpstr>PowerPoint Presentation</vt:lpstr>
      <vt:lpstr>Detaljnije informacije</vt:lpstr>
      <vt:lpstr>Identifikacija anomalija</vt:lpstr>
      <vt:lpstr>PowerPoint Presentation</vt:lpstr>
      <vt:lpstr>PowerPoint Presentation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Petar Mancic</dc:creator>
  <cp:lastModifiedBy>Petar Mancic</cp:lastModifiedBy>
  <cp:revision>12</cp:revision>
  <dcterms:created xsi:type="dcterms:W3CDTF">2026-01-10T18:11:09Z</dcterms:created>
  <dcterms:modified xsi:type="dcterms:W3CDTF">2026-01-17T14:46:13Z</dcterms:modified>
</cp:coreProperties>
</file>